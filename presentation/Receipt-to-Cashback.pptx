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3"/>
    <p:sldMasterId id="214748367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Oswald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Oswald-regular.fntdata"/><Relationship Id="rId15" Type="http://schemas.openxmlformats.org/officeDocument/2006/relationships/font" Target="fonts/Oswa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ba04b60f42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ba04b60f42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54111ca19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254111ca19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54111ca19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54111ca19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54111ca19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54111ca19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9b7d24c5f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9b7d24c5f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34a06501d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734a06501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54111ca19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54111ca19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54111ca19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54111ca19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lt2"/>
                </a:solidFill>
              </a:defRPr>
            </a:lvl1pPr>
            <a:lvl2pPr lvl="1" rtl="0" algn="r">
              <a:buNone/>
              <a:defRPr sz="1000">
                <a:solidFill>
                  <a:schemeClr val="lt2"/>
                </a:solidFill>
              </a:defRPr>
            </a:lvl2pPr>
            <a:lvl3pPr lvl="2" rtl="0" algn="r">
              <a:buNone/>
              <a:defRPr sz="1000">
                <a:solidFill>
                  <a:schemeClr val="lt2"/>
                </a:solidFill>
              </a:defRPr>
            </a:lvl3pPr>
            <a:lvl4pPr lvl="3" rtl="0" algn="r">
              <a:buNone/>
              <a:defRPr sz="1000">
                <a:solidFill>
                  <a:schemeClr val="lt2"/>
                </a:solidFill>
              </a:defRPr>
            </a:lvl4pPr>
            <a:lvl5pPr lvl="4" rtl="0" algn="r">
              <a:buNone/>
              <a:defRPr sz="1000">
                <a:solidFill>
                  <a:schemeClr val="lt2"/>
                </a:solidFill>
              </a:defRPr>
            </a:lvl5pPr>
            <a:lvl6pPr lvl="5" rtl="0" algn="r">
              <a:buNone/>
              <a:defRPr sz="1000">
                <a:solidFill>
                  <a:schemeClr val="lt2"/>
                </a:solidFill>
              </a:defRPr>
            </a:lvl6pPr>
            <a:lvl7pPr lvl="6" rtl="0" algn="r">
              <a:buNone/>
              <a:defRPr sz="1000">
                <a:solidFill>
                  <a:schemeClr val="lt2"/>
                </a:solidFill>
              </a:defRPr>
            </a:lvl7pPr>
            <a:lvl8pPr lvl="7" rtl="0" algn="r">
              <a:buNone/>
              <a:defRPr sz="1000">
                <a:solidFill>
                  <a:schemeClr val="lt2"/>
                </a:solidFill>
              </a:defRPr>
            </a:lvl8pPr>
            <a:lvl9pPr lvl="8" rtl="0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0" y="2496725"/>
            <a:ext cx="9144000" cy="2646900"/>
          </a:xfrm>
          <a:prstGeom prst="rect">
            <a:avLst/>
          </a:prstGeom>
          <a:solidFill>
            <a:srgbClr val="F3F3F3"/>
          </a:solidFill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  <a:reflection blurRad="0" dir="5400000" dist="38100" endA="0" endPos="1000" fadeDir="5400012" kx="0" rotWithShape="0" algn="bl" stPos="0" sy="-100000" ky="0"/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5"/>
          <p:cNvSpPr txBox="1"/>
          <p:nvPr/>
        </p:nvSpPr>
        <p:spPr>
          <a:xfrm>
            <a:off x="4034750" y="1546400"/>
            <a:ext cx="10113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2532425" y="1342425"/>
            <a:ext cx="1856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2078975" y="2103800"/>
            <a:ext cx="40989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0" y="0"/>
            <a:ext cx="9144000" cy="245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    </a:t>
            </a:r>
            <a:r>
              <a:rPr lang="en" sz="2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Receipt-to-Cashback</a:t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  </a:t>
            </a:r>
            <a:r>
              <a:rPr lang="en" sz="2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Alex Goldbaum</a:t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04" name="Google Shape;104;p25" title="final project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413" y="2661188"/>
            <a:ext cx="2313975" cy="231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Receipt-to-Cashback</a:t>
            </a:r>
            <a:endParaRPr/>
          </a:p>
        </p:txBody>
      </p:sp>
      <p:sp>
        <p:nvSpPr>
          <p:cNvPr id="110" name="Google Shape;110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A market-research data-acquisition app: users scan a receipt; we pay a flat cashback in exchange for the itemised consumption data, which we anonymise and sell in aggregate to brands and research firms.</a:t>
            </a:r>
            <a:endParaRPr/>
          </a:p>
          <a:p>
            <a:r>
              <a:rPr/>
              <a:t>Problem solved: market research today buys slow self-reported surveys; loyalty programs see one retailer at a time. Nobody has the cross-merchant, item-level picture of what consumers actually buy. We do.</a:t>
            </a:r>
          </a:p>
          <a:p>
            <a:r>
              <a:rPr/>
              <a:t>Target users: consumers who want any-merchant cashback (B2C) and brands, retailers and market-research firms as data buyers (B2B).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Stack</a:t>
            </a:r>
            <a:endParaRPr/>
          </a:p>
        </p:txBody>
      </p:sp>
      <p:sp>
        <p:nvSpPr>
          <p:cNvPr id="117" name="Google Shape;117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Python · OOP · Pydantic — bootcamp Week 1–2</a:t>
            </a:r>
            <a:endParaRPr/>
          </a:p>
          <a:p>
            <a:r>
              <a:rPr/>
              <a:t>pandas · matplotlib · seaborn — bootcamp Week 3–4</a:t>
            </a:r>
          </a:p>
          <a:p>
            <a:r>
              <a:rPr/>
              <a:t>scikit-learn KMeans · scipy Welch's t-test — bootcamp Week 4–5</a:t>
            </a:r>
          </a:p>
          <a:p>
            <a:r>
              <a:rPr/>
              <a:t>EasyOCR (CRAFT + CRNN) — bootcamp Week 7</a:t>
            </a:r>
          </a:p>
          <a:p>
            <a:r>
              <a:rPr/>
              <a:t>FAISS + multilingual sentence-transformer — bootcamp Week 8</a:t>
            </a:r>
          </a:p>
          <a:p>
            <a:r>
              <a:rPr/>
              <a:t>Gemini 2.5 Flash Lite + few-shot + strict Pydantic schema — bootcamp Week 9</a:t>
            </a:r>
          </a:p>
          <a:p>
            <a:r>
              <a:rPr/>
              <a:t>Streamlit web app (4 pages) — SELF-TAUGHT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Features list</a:t>
            </a:r>
            <a:endParaRPr/>
          </a:p>
        </p:txBody>
      </p:sp>
      <p:sp>
        <p:nvSpPr>
          <p:cNvPr id="124" name="Google Shape;124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/>
              <a:t>Upload page: receipt photo → cashback number in ~8 seconds end-to-end</a:t>
            </a:r>
            <a:endParaRPr/>
          </a:p>
          <a:p>
            <a:r>
              <a:rPr/>
              <a:t>OCR + LLM extractor with strict Pydantic schema and few-shot prompts</a:t>
            </a:r>
          </a:p>
          <a:p>
            <a:r>
              <a:rPr/>
              <a:t>Multilingual semantic matching against a 110-SKU F&amp;B catalog (FAISS)</a:t>
            </a:r>
          </a:p>
          <a:p>
            <a:r>
              <a:rPr/>
              <a:t>Two-tier drift guard: scales at 10% drift, refuses cashback at 50%</a:t>
            </a:r>
          </a:p>
          <a:p>
            <a:r>
              <a:rPr/>
              <a:t>B2B Analytics page: K-Means user clustering + A/B-test simulation (Welch's t-test)</a:t>
            </a:r>
          </a:p>
          <a:p>
            <a:r>
              <a:rPr/>
              <a:t>Ethics tab inside the app + full ethics doc in the repo</a:t>
            </a:r>
          </a:p>
          <a:p>
            <a:r>
              <a:rPr/>
              <a:t>13 unit tests on the CashbackEngine — all passing</a:t>
            </a:r>
          </a:p>
          <a:p>
            <a:r>
              <a:rPr/>
              <a:t>Branch-per-feature git workflow with --no-ff merges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9"/>
          <p:cNvSpPr txBox="1"/>
          <p:nvPr/>
        </p:nvSpPr>
        <p:spPr>
          <a:xfrm>
            <a:off x="227525" y="1846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Oswald"/>
              </a:rPr>
              <a:t>Difficulties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1" name="Google Shape;131;p29"/>
          <p:cNvSpPr txBox="1"/>
          <p:nvPr>
            <p:ph idx="4294967295" type="body"/>
          </p:nvPr>
        </p:nvSpPr>
        <p:spPr>
          <a:xfrm>
            <a:off x="311700" y="3332575"/>
            <a:ext cx="8520600" cy="5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/>
              <a:t>Real users instead of a synthetic population</a:t>
            </a:r>
            <a:endParaRPr/>
          </a:p>
          <a:p>
            <a:r>
              <a:rPr/>
              <a:t>Postgres warehouse for receipt records</a:t>
            </a:r>
          </a:p>
          <a:p>
            <a:r>
              <a:rPr/>
              <a:t>Image-level redaction of cardholder data and identifiers</a:t>
            </a:r>
          </a:p>
          <a:p>
            <a:r>
              <a:rPr/>
              <a:t>K-anonymity floor before any aggregated data is sold</a:t>
            </a:r>
          </a:p>
          <a:p>
            <a:r>
              <a:rPr/>
              <a:t>MCP 'spend search' agent (e.g. 'how much did I spend on coffee in May?')</a:t>
            </a:r>
          </a:p>
          <a:p>
            <a:r>
              <a:rPr/>
              <a:t>Multilingual OCR (Hebrew, Arabic) for global users</a:t>
            </a:r>
          </a:p>
        </p:txBody>
      </p:sp>
      <p:sp>
        <p:nvSpPr>
          <p:cNvPr id="133" name="Google Shape;133;p29"/>
          <p:cNvSpPr txBox="1"/>
          <p:nvPr/>
        </p:nvSpPr>
        <p:spPr>
          <a:xfrm>
            <a:off x="311700" y="26607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Oswald"/>
              </a:rPr>
              <a:t>Next steps (optional)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4" name="Google Shape;134;p29"/>
          <p:cNvSpPr txBox="1"/>
          <p:nvPr>
            <p:ph idx="4294967295" type="body"/>
          </p:nvPr>
        </p:nvSpPr>
        <p:spPr>
          <a:xfrm>
            <a:off x="311700" y="752875"/>
            <a:ext cx="8520600" cy="48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/>
              <a:t>Original partner-rebate business model gated cashback on most receipts → pivoted to market-research model: every priced line pays out</a:t>
            </a:r>
            <a:endParaRPr/>
          </a:p>
          <a:p>
            <a:r>
              <a:rPr/>
              <a:t>English-only embedding rejected Indonesian item 'PKT AYAM' → switched to paraphrase-multilingual-MiniLM-L12-v2 → 100% classification</a:t>
            </a:r>
          </a:p>
          <a:p>
            <a:r>
              <a:rPr/>
              <a:t>End-to-end latency was 40+ seconds on first run → moved to Gemini Flash Lite + image-hash cache → ~8 seconds</a:t>
            </a:r>
          </a:p>
          <a:p>
            <a:r>
              <a:rPr/>
              <a:t>OCR and LLM aren't perfect — they sometimes double-count items or misread the total. Sanity check: if the sum of items disagrees with the printed total by 10%, we trust the printed total; if by 50%, we refuse the cashback and ask the user for another photo.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/>
        </p:nvSpPr>
        <p:spPr>
          <a:xfrm>
            <a:off x="227525" y="1846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Oswald"/>
              </a:rPr>
              <a:t>Demo · video + code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1" name="Google Shape;141;p30"/>
          <p:cNvSpPr txBox="1"/>
          <p:nvPr>
            <p:ph idx="4294967295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/>
              <a:t>Live demo: https://huggingface.co/spaces/alexgl77/receipt-to-cashback</a:t>
            </a:r>
            <a:endParaRPr/>
          </a:p>
          <a:p>
            <a:r>
              <a:rPr/>
              <a:t>Loom video (2:53): https://www.loom.com/share/b10268c4694f4a8f8cf5e7292aef7a21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Links (For PSTB Team Only – Not for Presentation)</a:t>
            </a:r>
            <a:endParaRPr/>
          </a:p>
        </p:txBody>
      </p:sp>
      <p:sp>
        <p:nvSpPr>
          <p:cNvPr id="149" name="Google Shape;149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GitHub (public repo): https://github.com/alexgl77/receipt-to-cashback</a:t>
            </a:r>
            <a:endParaRPr/>
          </a:p>
          <a:p>
            <a:r>
              <a:rPr/>
              <a:t>Live app: https://huggingface.co/spaces/alexgl77/receipt-to-cashback</a:t>
            </a:r>
          </a:p>
          <a:p>
            <a:r>
              <a:rPr/>
              <a:t>Demo video (Loom, 2:53): https://www.loom.com/share/b10268c4694f4a8f8cf5e7292aef7a21</a:t>
            </a:r>
          </a:p>
          <a:p>
            <a:r>
              <a:rPr/>
              <a:t>Medium article: not planned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2"/>
          <p:cNvSpPr txBox="1"/>
          <p:nvPr>
            <p:ph type="title"/>
          </p:nvPr>
        </p:nvSpPr>
        <p:spPr>
          <a:xfrm>
            <a:off x="311700" y="445025"/>
            <a:ext cx="8832300" cy="61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Job (For PSTB Team Only – Not for Presentation)</a:t>
            </a:r>
            <a:endParaRPr/>
          </a:p>
        </p:txBody>
      </p:sp>
      <p:sp>
        <p:nvSpPr>
          <p:cNvPr id="155" name="Google Shape;155;p3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CV: [REPLACE WITH YOUR CV URL]</a:t>
            </a:r>
            <a:endParaRPr/>
          </a:p>
          <a:p>
            <a:r>
              <a:rPr/>
              <a:t>LinkedIn: https://www.linkedin.com/in/alex-goldbaum/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