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3"/>
    <p:sldMasterId id="214748367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Oswald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Oswald-regular.fntdata"/><Relationship Id="rId15" Type="http://schemas.openxmlformats.org/officeDocument/2006/relationships/font" Target="fonts/Oswa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ba04b60f42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ba04b60f42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54111ca19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254111ca19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54111ca19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54111ca19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54111ca19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254111ca19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9b7d24c5f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9b7d24c5f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34a06501d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734a06501d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54111ca197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254111ca19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54111ca19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54111ca19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lt2"/>
                </a:solidFill>
              </a:defRPr>
            </a:lvl1pPr>
            <a:lvl2pPr lvl="1" rtl="0" algn="r">
              <a:buNone/>
              <a:defRPr sz="1000">
                <a:solidFill>
                  <a:schemeClr val="lt2"/>
                </a:solidFill>
              </a:defRPr>
            </a:lvl2pPr>
            <a:lvl3pPr lvl="2" rtl="0" algn="r">
              <a:buNone/>
              <a:defRPr sz="1000">
                <a:solidFill>
                  <a:schemeClr val="lt2"/>
                </a:solidFill>
              </a:defRPr>
            </a:lvl3pPr>
            <a:lvl4pPr lvl="3" rtl="0" algn="r">
              <a:buNone/>
              <a:defRPr sz="1000">
                <a:solidFill>
                  <a:schemeClr val="lt2"/>
                </a:solidFill>
              </a:defRPr>
            </a:lvl4pPr>
            <a:lvl5pPr lvl="4" rtl="0" algn="r">
              <a:buNone/>
              <a:defRPr sz="1000">
                <a:solidFill>
                  <a:schemeClr val="lt2"/>
                </a:solidFill>
              </a:defRPr>
            </a:lvl5pPr>
            <a:lvl6pPr lvl="5" rtl="0" algn="r">
              <a:buNone/>
              <a:defRPr sz="1000">
                <a:solidFill>
                  <a:schemeClr val="lt2"/>
                </a:solidFill>
              </a:defRPr>
            </a:lvl6pPr>
            <a:lvl7pPr lvl="6" rtl="0" algn="r">
              <a:buNone/>
              <a:defRPr sz="1000">
                <a:solidFill>
                  <a:schemeClr val="lt2"/>
                </a:solidFill>
              </a:defRPr>
            </a:lvl7pPr>
            <a:lvl8pPr lvl="7" rtl="0" algn="r">
              <a:buNone/>
              <a:defRPr sz="1000">
                <a:solidFill>
                  <a:schemeClr val="lt2"/>
                </a:solidFill>
              </a:defRPr>
            </a:lvl8pPr>
            <a:lvl9pPr lvl="8" rtl="0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0" y="2496725"/>
            <a:ext cx="9144000" cy="2646900"/>
          </a:xfrm>
          <a:prstGeom prst="rect">
            <a:avLst/>
          </a:prstGeom>
          <a:solidFill>
            <a:srgbClr val="F3F3F3"/>
          </a:solidFill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  <a:reflection blurRad="0" dir="5400000" dist="38100" endA="0" endPos="1000" fadeDir="5400012" kx="0" rotWithShape="0" algn="bl" stPos="0" sy="-100000" ky="0"/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5"/>
          <p:cNvSpPr txBox="1"/>
          <p:nvPr/>
        </p:nvSpPr>
        <p:spPr>
          <a:xfrm>
            <a:off x="4034750" y="1546400"/>
            <a:ext cx="10113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2532425" y="1342425"/>
            <a:ext cx="18567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2078975" y="2103800"/>
            <a:ext cx="40989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5"/>
          <p:cNvSpPr txBox="1"/>
          <p:nvPr/>
        </p:nvSpPr>
        <p:spPr>
          <a:xfrm>
            <a:off x="0" y="0"/>
            <a:ext cx="9144000" cy="245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    </a:t>
            </a:r>
            <a:r>
              <a:rPr lang="en" sz="2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Receipt-to-Cashback</a:t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  </a:t>
            </a:r>
            <a:r>
              <a:rPr lang="en" sz="2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Alex Goldbaum</a:t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04" name="Google Shape;104;p25" title="final project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413" y="2661188"/>
            <a:ext cx="2313975" cy="2313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Scan a receipt. Get cashback. We sell the data.</a:t>
            </a:r>
            <a:endParaRPr/>
          </a:p>
        </p:txBody>
      </p:sp>
      <p:sp>
        <p:nvSpPr>
          <p:cNvPr id="110" name="Google Shape;110;p26"/>
          <p:cNvSpPr txBox="1"/>
          <p:nvPr>
            <p:ph idx="1" type="body"/>
          </p:nvPr>
        </p:nvSpPr>
        <p:spPr>
          <a:xfrm>
            <a:off x="274320" y="1152475"/>
            <a:ext cx="438912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A market-research data-acquisition app.</a:t>
            </a:r>
            <a:endParaRPr/>
          </a:p>
          <a:p>
            <a:r>
              <a:rPr sz="1400"/>
              <a:t/>
            </a:r>
          </a:p>
          <a:p>
            <a:r>
              <a:rPr sz="1400"/>
              <a:t>Users scan a receipt → we pay flat cashback in exchange for the itemised consumption data → we anonymise it and sell it in aggregate to brands, retailers and research firms.</a:t>
            </a:r>
          </a:p>
          <a:p>
            <a:r>
              <a:rPr sz="1400"/>
              <a:t/>
            </a:r>
          </a:p>
          <a:p>
            <a:r>
              <a:rPr sz="1400"/>
              <a:t>Solves a real gap: no one today has a cross-merchant, item-level picture of what consumers actually buy. We get it by paying the consumer directly.</a:t>
            </a:r>
          </a:p>
        </p:txBody>
      </p:sp>
      <p:pic>
        <p:nvPicPr>
          <p:cNvPr id="111" name="Picture 110" descr="04_ab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188720"/>
            <a:ext cx="5852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Stack</a:t>
            </a:r>
            <a:endParaRPr/>
          </a:p>
        </p:txBody>
      </p:sp>
      <p:sp>
        <p:nvSpPr>
          <p:cNvPr id="117" name="Google Shape;117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/>
              <a:t>OCR + extraction — Gemini 2.5 Flash Vision (image → structured JSON, one call)</a:t>
            </a:r>
            <a:endParaRPr/>
          </a:p>
          <a:p>
            <a:r>
              <a:rPr sz="1300"/>
              <a:t>Schema validation — Pydantic (strict + retry on malformed output)</a:t>
            </a:r>
          </a:p>
          <a:p>
            <a:r>
              <a:rPr sz="1300"/>
              <a:t>Vector search — FAISS + multilingual sentence-transformer</a:t>
            </a:r>
          </a:p>
          <a:p>
            <a:r>
              <a:rPr sz="1300"/>
              <a:t>Clustering &amp; A/B — scikit-learn KMeans + scipy Welch's t-test</a:t>
            </a:r>
          </a:p>
          <a:p>
            <a:r>
              <a:rPr sz="1300"/>
              <a:t>Data wrangling — pandas, matplotlib, seaborn</a:t>
            </a:r>
          </a:p>
          <a:p>
            <a:r>
              <a:rPr sz="1300"/>
              <a:t>Web app — Streamlit (4 pages: Upload · B2B · Ethics · About)  — SELF-TAUGHT</a:t>
            </a:r>
          </a:p>
          <a:p>
            <a:r>
              <a:rPr sz="1300"/>
              <a:t>Code style — Python OOP + dataclasses + type hints (bootcamp Weeks 1–9)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Upload → 32,000 IDR in 8 seconds.</a:t>
            </a:r>
            <a:endParaRPr/>
          </a:p>
        </p:txBody>
      </p:sp>
      <p:sp>
        <p:nvSpPr>
          <p:cNvPr id="124" name="Google Shape;124;p28"/>
          <p:cNvSpPr txBox="1"/>
          <p:nvPr>
            <p:ph idx="1" type="body"/>
          </p:nvPr>
        </p:nvSpPr>
        <p:spPr>
          <a:xfrm>
            <a:off x="274320" y="1152475"/>
            <a:ext cx="4114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sz="1300"/>
              <a:t>Upload page (live demo on the right):</a:t>
            </a:r>
            <a:endParaRPr/>
          </a:p>
          <a:p>
            <a:r>
              <a:rPr sz="1300"/>
              <a:t>• photo of receipt → cashback number end-to-end in ~8 s</a:t>
            </a:r>
          </a:p>
          <a:p>
            <a:r>
              <a:rPr sz="1300"/>
              <a:t>• every item classified into food / beverage / bakery / …</a:t>
            </a:r>
          </a:p>
          <a:p>
            <a:r>
              <a:rPr sz="1300"/>
              <a:t>• raw Gemini JSON visible for debugging</a:t>
            </a:r>
          </a:p>
          <a:p>
            <a:r>
              <a:rPr sz="1300"/>
              <a:t/>
            </a:r>
          </a:p>
          <a:p>
            <a:r>
              <a:rPr sz="1300"/>
              <a:t>B2B Analytics page:</a:t>
            </a:r>
          </a:p>
          <a:p>
            <a:r>
              <a:rPr sz="1300"/>
              <a:t>• A/B-test simulation of two cashback rates</a:t>
            </a:r>
          </a:p>
          <a:p>
            <a:r>
              <a:rPr sz="1300"/>
              <a:t>• K-Means user clustering with PCA projection</a:t>
            </a:r>
          </a:p>
          <a:p>
            <a:r>
              <a:rPr sz="1300"/>
              <a:t/>
            </a:r>
          </a:p>
          <a:p>
            <a:r>
              <a:rPr sz="1300"/>
              <a:t>Ethics tab — surfaced in the app, not buried in a doc.</a:t>
            </a:r>
          </a:p>
        </p:txBody>
      </p:sp>
      <p:pic>
        <p:nvPicPr>
          <p:cNvPr id="125" name="Picture 124" descr="01_upload_result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18872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9"/>
          <p:cNvSpPr txBox="1"/>
          <p:nvPr/>
        </p:nvSpPr>
        <p:spPr>
          <a:xfrm>
            <a:off x="227525" y="1846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FFFFFF"/>
                </a:solidFill>
                <a:latin typeface="Oswald"/>
              </a:rPr>
              <a:t>Difficulties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1" name="Google Shape;131;p29"/>
          <p:cNvSpPr txBox="1"/>
          <p:nvPr>
            <p:ph idx="4294967295" type="body"/>
          </p:nvPr>
        </p:nvSpPr>
        <p:spPr>
          <a:xfrm>
            <a:off x="311700" y="3332575"/>
            <a:ext cx="8520600" cy="5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sz="1200"/>
              <a:t>Real users (replace synthetic population)</a:t>
            </a:r>
            <a:endParaRPr/>
          </a:p>
          <a:p>
            <a:r>
              <a:rPr sz="1200"/>
              <a:t>Postgres warehouse + image-level PII redaction</a:t>
            </a:r>
          </a:p>
          <a:p>
            <a:r>
              <a:rPr sz="1200"/>
              <a:t>K-anonymity floor before any data sale</a:t>
            </a:r>
          </a:p>
          <a:p>
            <a:r>
              <a:rPr sz="1200"/>
              <a:t>MCP 'spend search' agent</a:t>
            </a:r>
          </a:p>
        </p:txBody>
      </p:sp>
      <p:sp>
        <p:nvSpPr>
          <p:cNvPr id="133" name="Google Shape;133;p29"/>
          <p:cNvSpPr txBox="1"/>
          <p:nvPr/>
        </p:nvSpPr>
        <p:spPr>
          <a:xfrm>
            <a:off x="311700" y="26607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FFFFFF"/>
                </a:solidFill>
                <a:latin typeface="Oswald"/>
              </a:rPr>
              <a:t>Next steps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4" name="Google Shape;134;p29"/>
          <p:cNvSpPr txBox="1"/>
          <p:nvPr>
            <p:ph idx="4294967295" type="body"/>
          </p:nvPr>
        </p:nvSpPr>
        <p:spPr>
          <a:xfrm>
            <a:off x="311700" y="752875"/>
            <a:ext cx="8520600" cy="48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sz="1200"/>
              <a:t>Original 'partner-rebate' model rejected most receipts → pivoted to market-research data acquisition (all priced lines pay out).</a:t>
            </a:r>
            <a:endParaRPr/>
          </a:p>
          <a:p>
            <a:r>
              <a:rPr sz="1200"/>
              <a:t>English-only embedding rejected Indonesian items → multilingual sentence-transformer fixed it (100 % classification).</a:t>
            </a:r>
          </a:p>
          <a:p>
            <a:r>
              <a:rPr sz="1200"/>
              <a:t>Two-step OCR → LLM pipeline misread the grand total → replaced with single Gemini Vision multimodal call.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/>
        </p:nvSpPr>
        <p:spPr>
          <a:xfrm>
            <a:off x="227525" y="1846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FFFFFF"/>
                </a:solidFill>
                <a:latin typeface="Oswald"/>
              </a:rPr>
              <a:t>See it work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1" name="Google Shape;141;p30"/>
          <p:cNvSpPr txBox="1"/>
          <p:nvPr>
            <p:ph idx="4294967295" type="body"/>
          </p:nvPr>
        </p:nvSpPr>
        <p:spPr>
          <a:xfrm>
            <a:off x="274320" y="863550"/>
            <a:ext cx="438912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sz="1200"/>
              <a:t>Live app   →  https://huggingface.co/spaces/alexgl77/receipt-to-cashback</a:t>
            </a:r>
            <a:endParaRPr/>
          </a:p>
          <a:p>
            <a:r>
              <a:rPr sz="1200"/>
              <a:t>Demo video →  https://www.loom.com/share/b10268c4694f4a8f8cf5e7292aef7a21  (2:53)</a:t>
            </a:r>
          </a:p>
        </p:txBody>
      </p:sp>
      <p:pic>
        <p:nvPicPr>
          <p:cNvPr id="142" name="Picture 141" descr="02_b2b_analyt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188720"/>
            <a:ext cx="5852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Links (For PSTB Team Only – Not for Presentation)</a:t>
            </a:r>
            <a:endParaRPr/>
          </a:p>
        </p:txBody>
      </p:sp>
      <p:sp>
        <p:nvSpPr>
          <p:cNvPr id="149" name="Google Shape;149;p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GitHub (public): https://github.com/alexgl77/receipt-to-cashback</a:t>
            </a:r>
            <a:endParaRPr/>
          </a:p>
          <a:p>
            <a:r>
              <a:rPr sz="1400"/>
              <a:t>Live app: https://huggingface.co/spaces/alexgl77/receipt-to-cashback</a:t>
            </a:r>
          </a:p>
          <a:p>
            <a:r>
              <a:rPr sz="1400"/>
              <a:t>Loom video (2:53): https://www.loom.com/share/b10268c4694f4a8f8cf5e7292aef7a21</a:t>
            </a:r>
          </a:p>
          <a:p>
            <a:r>
              <a:rPr sz="1400"/>
              <a:t>Medium: not planned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2"/>
          <p:cNvSpPr txBox="1"/>
          <p:nvPr>
            <p:ph type="title"/>
          </p:nvPr>
        </p:nvSpPr>
        <p:spPr>
          <a:xfrm>
            <a:off x="311700" y="445025"/>
            <a:ext cx="8832300" cy="61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Job (For PSTB Team Only – Not for Presentation)</a:t>
            </a:r>
            <a:endParaRPr/>
          </a:p>
        </p:txBody>
      </p:sp>
      <p:sp>
        <p:nvSpPr>
          <p:cNvPr id="155" name="Google Shape;155;p3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/>
              <a:t>CV: [REPLACE WITH YOUR CV URL]</a:t>
            </a:r>
            <a:endParaRPr/>
          </a:p>
          <a:p>
            <a:r>
              <a:rPr sz="1400"/>
              <a:t>LinkedIn: https://www.linkedin.com/in/alex-goldbaum/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