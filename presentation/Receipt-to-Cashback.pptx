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3"/>
    <p:sldMasterId id="214748367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Oswald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Oswald-regular.fntdata"/><Relationship Id="rId15" Type="http://schemas.openxmlformats.org/officeDocument/2006/relationships/font" Target="fonts/Oswa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ba04b60f42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ba04b60f42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54111ca19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54111ca19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54111ca19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54111ca19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254111ca197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254111ca197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9b7d24c5f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9b7d24c5f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34a06501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34a06501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54111ca197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54111ca197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254111ca197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254111ca197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 rtl="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r">
              <a:buNone/>
              <a:defRPr sz="1000">
                <a:solidFill>
                  <a:schemeClr val="lt2"/>
                </a:solidFill>
              </a:defRPr>
            </a:lvl1pPr>
            <a:lvl2pPr lvl="1" rtl="0" algn="r">
              <a:buNone/>
              <a:defRPr sz="1000">
                <a:solidFill>
                  <a:schemeClr val="lt2"/>
                </a:solidFill>
              </a:defRPr>
            </a:lvl2pPr>
            <a:lvl3pPr lvl="2" rtl="0" algn="r">
              <a:buNone/>
              <a:defRPr sz="1000">
                <a:solidFill>
                  <a:schemeClr val="lt2"/>
                </a:solidFill>
              </a:defRPr>
            </a:lvl3pPr>
            <a:lvl4pPr lvl="3" rtl="0" algn="r">
              <a:buNone/>
              <a:defRPr sz="1000">
                <a:solidFill>
                  <a:schemeClr val="lt2"/>
                </a:solidFill>
              </a:defRPr>
            </a:lvl4pPr>
            <a:lvl5pPr lvl="4" rtl="0" algn="r">
              <a:buNone/>
              <a:defRPr sz="1000">
                <a:solidFill>
                  <a:schemeClr val="lt2"/>
                </a:solidFill>
              </a:defRPr>
            </a:lvl5pPr>
            <a:lvl6pPr lvl="5" rtl="0" algn="r">
              <a:buNone/>
              <a:defRPr sz="1000">
                <a:solidFill>
                  <a:schemeClr val="lt2"/>
                </a:solidFill>
              </a:defRPr>
            </a:lvl6pPr>
            <a:lvl7pPr lvl="6" rtl="0" algn="r">
              <a:buNone/>
              <a:defRPr sz="1000">
                <a:solidFill>
                  <a:schemeClr val="lt2"/>
                </a:solidFill>
              </a:defRPr>
            </a:lvl7pPr>
            <a:lvl8pPr lvl="7" rtl="0" algn="r">
              <a:buNone/>
              <a:defRPr sz="1000">
                <a:solidFill>
                  <a:schemeClr val="lt2"/>
                </a:solidFill>
              </a:defRPr>
            </a:lvl8pPr>
            <a:lvl9pPr lvl="8" rtl="0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0000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0" y="2496725"/>
            <a:ext cx="9144000" cy="2646900"/>
          </a:xfrm>
          <a:prstGeom prst="rect">
            <a:avLst/>
          </a:prstGeom>
          <a:solidFill>
            <a:srgbClr val="F3F3F3"/>
          </a:solidFill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  <a:reflection blurRad="0" dir="5400000" dist="38100" endA="0" endPos="1000" fadeDir="5400012" kx="0" rotWithShape="0" algn="bl" stPos="0" sy="-100000" ky="0"/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5"/>
          <p:cNvSpPr txBox="1"/>
          <p:nvPr/>
        </p:nvSpPr>
        <p:spPr>
          <a:xfrm>
            <a:off x="4034750" y="1546400"/>
            <a:ext cx="10113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101" name="Google Shape;101;p25"/>
          <p:cNvSpPr txBox="1"/>
          <p:nvPr/>
        </p:nvSpPr>
        <p:spPr>
          <a:xfrm>
            <a:off x="2532425" y="1342425"/>
            <a:ext cx="1856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2078975" y="2103800"/>
            <a:ext cx="40989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0" y="0"/>
            <a:ext cx="9144000" cy="245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Receipt-to-Cashback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   </a:t>
            </a:r>
            <a:r>
              <a:rPr lang="en" sz="25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rPr>
              <a:t>Alex Goldbaum</a:t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solidFill>
                <a:schemeClr val="dk1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pic>
        <p:nvPicPr>
          <p:cNvPr id="104" name="Google Shape;104;p25" title="final project.jpe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3413" y="2661188"/>
            <a:ext cx="2313975" cy="23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Receipt-to-Cashback</a:t>
            </a:r>
            <a:endParaRPr/>
          </a:p>
        </p:txBody>
      </p:sp>
      <p:sp>
        <p:nvSpPr>
          <p:cNvPr id="110" name="Google Shape;110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A market-research data-acquisition app: users scan a receipt; we pay a flat cashback in exchange for the itemised consumption data, which we anonymise and sell in aggregate to brands and research firms.</a:t>
            </a:r>
            <a:endParaRPr/>
          </a:p>
          <a:p>
            <a:r>
              <a:rPr/>
              <a:t>Problem solved: market research today buys slow self-reported surveys; loyalty programs see one retailer at a time. Nobody has the cross-merchant, item-level picture of what consumers actually buy. We do.</a:t>
            </a:r>
          </a:p>
          <a:p>
            <a:r>
              <a:rPr/>
              <a:t>Target users: consumers who want any-merchant cashback (B2C) and brands, retailers and market-research firms as data buyers (B2B).</a:t>
            </a:r>
          </a:p>
        </p:txBody>
      </p:sp>
      <p:sp>
        <p:nvSpPr>
          <p:cNvPr id="111" name="Google Shape;111;p26"/>
          <p:cNvSpPr txBox="1"/>
          <p:nvPr>
            <p:ph type="title"/>
          </p:nvPr>
        </p:nvSpPr>
        <p:spPr>
          <a:xfrm>
            <a:off x="4567200" y="297150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Stack</a:t>
            </a:r>
            <a:endParaRPr/>
          </a:p>
        </p:txBody>
      </p:sp>
      <p:sp>
        <p:nvSpPr>
          <p:cNvPr id="117" name="Google Shape;117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Python · OOP · Pydantic — bootcamp Week 1–2</a:t>
            </a:r>
            <a:endParaRPr/>
          </a:p>
          <a:p>
            <a:r>
              <a:rPr/>
              <a:t>pandas · matplotlib · seaborn — bootcamp Week 3–4</a:t>
            </a:r>
          </a:p>
          <a:p>
            <a:r>
              <a:rPr/>
              <a:t>scikit-learn KMeans · scipy Welch's t-test — bootcamp Week 4–5</a:t>
            </a:r>
          </a:p>
          <a:p>
            <a:r>
              <a:rPr/>
              <a:t>EasyOCR (CRAFT + CRNN) — bootcamp Week 7</a:t>
            </a:r>
          </a:p>
          <a:p>
            <a:r>
              <a:rPr/>
              <a:t>FAISS + multilingual sentence-transformer — bootcamp Week 8</a:t>
            </a:r>
          </a:p>
          <a:p>
            <a:r>
              <a:rPr/>
              <a:t>Gemini 2.5 Flash Lite + few-shot + strict Pydantic schema — bootcamp Week 9</a:t>
            </a:r>
          </a:p>
          <a:p>
            <a:r>
              <a:rPr/>
              <a:t>Streamlit web app (4 pages) — SELF-TAUGHT</a:t>
            </a:r>
          </a:p>
        </p:txBody>
      </p:sp>
      <p:sp>
        <p:nvSpPr>
          <p:cNvPr id="118" name="Google Shape;118;p27"/>
          <p:cNvSpPr txBox="1"/>
          <p:nvPr>
            <p:ph type="title"/>
          </p:nvPr>
        </p:nvSpPr>
        <p:spPr>
          <a:xfrm>
            <a:off x="4567200" y="297150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Features list</a:t>
            </a:r>
            <a:endParaRPr/>
          </a:p>
        </p:txBody>
      </p:sp>
      <p:sp>
        <p:nvSpPr>
          <p:cNvPr id="124" name="Google Shape;124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Upload page: receipt photo → cashback number in ~8 seconds end-to-end</a:t>
            </a:r>
            <a:endParaRPr/>
          </a:p>
          <a:p>
            <a:r>
              <a:rPr/>
              <a:t>OCR + LLM extractor with strict Pydantic schema and few-shot prompts</a:t>
            </a:r>
          </a:p>
          <a:p>
            <a:r>
              <a:rPr/>
              <a:t>Multilingual semantic matching against a 110-SKU F&amp;B catalog (FAISS)</a:t>
            </a:r>
          </a:p>
          <a:p>
            <a:r>
              <a:rPr/>
              <a:t>Two-tier drift guard: scales at 10% drift, refuses cashback at 50%</a:t>
            </a:r>
          </a:p>
          <a:p>
            <a:r>
              <a:rPr/>
              <a:t>B2B Analytics page: K-Means user clustering + A/B-test simulation (Welch's t-test)</a:t>
            </a:r>
          </a:p>
          <a:p>
            <a:r>
              <a:rPr/>
              <a:t>Ethics tab inside the app + full ethics doc in the repo</a:t>
            </a:r>
          </a:p>
          <a:p>
            <a:r>
              <a:rPr/>
              <a:t>13 unit tests on the CashbackEngine — all passing</a:t>
            </a:r>
          </a:p>
          <a:p>
            <a:r>
              <a:rPr/>
              <a:t>Branch-per-feature git workflow with --no-ff merges</a:t>
            </a:r>
          </a:p>
        </p:txBody>
      </p:sp>
      <p:sp>
        <p:nvSpPr>
          <p:cNvPr id="125" name="Google Shape;125;p28"/>
          <p:cNvSpPr txBox="1"/>
          <p:nvPr>
            <p:ph type="title"/>
          </p:nvPr>
        </p:nvSpPr>
        <p:spPr>
          <a:xfrm>
            <a:off x="4567200" y="297150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9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Difficulties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1" name="Google Shape;131;p29"/>
          <p:cNvSpPr txBox="1"/>
          <p:nvPr>
            <p:ph idx="4294967295" type="body"/>
          </p:nvPr>
        </p:nvSpPr>
        <p:spPr>
          <a:xfrm>
            <a:off x="311700" y="3332575"/>
            <a:ext cx="8520600" cy="56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Original partner-rebate business model gated cashback on most receipts → pivoted to market-research model: every priced line pays out</a:t>
            </a:r>
            <a:endParaRPr/>
          </a:p>
          <a:p>
            <a:r>
              <a:rPr/>
              <a:t>English-only embedding rejected Indonesian item 'PKT AYAM' → switched to paraphrase-multilingual-MiniLM-L12-v2 → 100% classification</a:t>
            </a:r>
          </a:p>
          <a:p>
            <a:r>
              <a:rPr/>
              <a:t>End-to-end latency was 40+ seconds on first run → moved to Gemini Flash Lite + image-hash cache → ~8 seconds</a:t>
            </a:r>
          </a:p>
          <a:p>
            <a:r>
              <a:rPr/>
              <a:t>Rehearsal: LLM double-counted items (+70% inflation) and later under-read totals (1,591,600 → 591,600) → built two-tier drift guard that scales at 10% and refuses payment at 50%</a:t>
            </a:r>
          </a:p>
        </p:txBody>
      </p:sp>
      <p:sp>
        <p:nvSpPr>
          <p:cNvPr id="132" name="Google Shape;132;p29"/>
          <p:cNvSpPr txBox="1"/>
          <p:nvPr>
            <p:ph idx="4294967295" type="title"/>
          </p:nvPr>
        </p:nvSpPr>
        <p:spPr>
          <a:xfrm>
            <a:off x="4567200" y="244925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FF0000"/>
              </a:solidFill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311700" y="26607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Next steps (optional)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34" name="Google Shape;134;p29"/>
          <p:cNvSpPr txBox="1"/>
          <p:nvPr>
            <p:ph idx="4294967295" type="body"/>
          </p:nvPr>
        </p:nvSpPr>
        <p:spPr>
          <a:xfrm>
            <a:off x="311700" y="752875"/>
            <a:ext cx="8520600" cy="48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/>
              <a:t>Real users instead of a synthetic population</a:t>
            </a:r>
            <a:endParaRPr/>
          </a:p>
          <a:p>
            <a:r>
              <a:rPr/>
              <a:t>Postgres warehouse for receipt records</a:t>
            </a:r>
          </a:p>
          <a:p>
            <a:r>
              <a:rPr/>
              <a:t>Image-level redaction of cardholder data and identifiers</a:t>
            </a:r>
          </a:p>
          <a:p>
            <a:r>
              <a:rPr/>
              <a:t>K-anonymity floor before any aggregated data is sold</a:t>
            </a:r>
          </a:p>
          <a:p>
            <a:r>
              <a:rPr/>
              <a:t>MCP 'spend search' agent (e.g. 'how much did I spend on coffee in May?')</a:t>
            </a:r>
          </a:p>
          <a:p>
            <a:r>
              <a:rPr/>
              <a:t>Multilingual OCR (Hebrew, Arabic) for global users</a:t>
            </a:r>
          </a:p>
        </p:txBody>
      </p:sp>
      <p:sp>
        <p:nvSpPr>
          <p:cNvPr id="135" name="Google Shape;135;p29"/>
          <p:cNvSpPr txBox="1"/>
          <p:nvPr>
            <p:ph idx="4294967295" type="title"/>
          </p:nvPr>
        </p:nvSpPr>
        <p:spPr>
          <a:xfrm>
            <a:off x="4797925" y="3112675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/>
        </p:nvSpPr>
        <p:spPr>
          <a:xfrm>
            <a:off x="227525" y="184675"/>
            <a:ext cx="7698000" cy="5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400">
                <a:solidFill>
                  <a:srgbClr val="FFFFFF"/>
                </a:solidFill>
                <a:latin typeface="Oswald"/>
              </a:rPr>
              <a:t>Demo · video + code</a:t>
            </a:r>
            <a:endParaRPr sz="2400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1" name="Google Shape;141;p30"/>
          <p:cNvSpPr txBox="1"/>
          <p:nvPr>
            <p:ph idx="4294967295" type="body"/>
          </p:nvPr>
        </p:nvSpPr>
        <p:spPr>
          <a:xfrm>
            <a:off x="311700" y="863550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/>
              <a:t>Live demo: https://huggingface.co/spaces/alexgl77/receipt-to-cashback</a:t>
            </a:r>
            <a:endParaRPr/>
          </a:p>
          <a:p>
            <a:r>
              <a:rPr/>
              <a:t>Loom video (3 min): [WILL BE ADDED AFTER RECORDING — see docs/05_demo_script.md]</a:t>
            </a:r>
          </a:p>
        </p:txBody>
      </p:sp>
      <p:sp>
        <p:nvSpPr>
          <p:cNvPr id="142" name="Google Shape;142;p30"/>
          <p:cNvSpPr txBox="1"/>
          <p:nvPr>
            <p:ph idx="4294967295" type="title"/>
          </p:nvPr>
        </p:nvSpPr>
        <p:spPr>
          <a:xfrm>
            <a:off x="4654800" y="1324175"/>
            <a:ext cx="4265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rgbClr val="FF0000"/>
              </a:solidFill>
            </a:endParaRPr>
          </a:p>
        </p:txBody>
      </p:sp>
      <p:sp>
        <p:nvSpPr>
          <p:cNvPr id="143" name="Google Shape;143;p30"/>
          <p:cNvSpPr txBox="1"/>
          <p:nvPr>
            <p:ph idx="4294967295" type="title"/>
          </p:nvPr>
        </p:nvSpPr>
        <p:spPr>
          <a:xfrm>
            <a:off x="267900" y="2103225"/>
            <a:ext cx="8608200" cy="2733900"/>
          </a:xfrm>
          <a:prstGeom prst="rect">
            <a:avLst/>
          </a:prstGeom>
          <a:ln cap="flat" cmpd="sng" w="9525">
            <a:solidFill>
              <a:srgbClr val="00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200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Links (For PSTB Team Only – Not for Presentation)</a:t>
            </a:r>
            <a:endParaRPr/>
          </a:p>
        </p:txBody>
      </p:sp>
      <p:sp>
        <p:nvSpPr>
          <p:cNvPr id="149" name="Google Shape;149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GitHub (public repo): https://github.com/alexgl77/receipt-to-cashback</a:t>
            </a:r>
            <a:endParaRPr/>
          </a:p>
          <a:p>
            <a:r>
              <a:rPr/>
              <a:t>Live app: https://huggingface.co/spaces/alexgl77/receipt-to-cashback</a:t>
            </a:r>
          </a:p>
          <a:p>
            <a:r>
              <a:rPr/>
              <a:t>3-min video (Loom): [WILL BE ADDED AFTER RECORDING]</a:t>
            </a:r>
          </a:p>
          <a:p>
            <a:r>
              <a:rPr/>
              <a:t>Medium article: not planned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2"/>
          <p:cNvSpPr txBox="1"/>
          <p:nvPr>
            <p:ph type="title"/>
          </p:nvPr>
        </p:nvSpPr>
        <p:spPr>
          <a:xfrm>
            <a:off x="311700" y="445025"/>
            <a:ext cx="8832300" cy="61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Job (For PSTB Team Only – Not for Presentation)</a:t>
            </a:r>
            <a:endParaRPr/>
          </a:p>
        </p:txBody>
      </p:sp>
      <p:sp>
        <p:nvSpPr>
          <p:cNvPr id="155" name="Google Shape;155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>CV: [REPLACE WITH YOUR CV URL]</a:t>
            </a:r>
            <a:endParaRPr/>
          </a:p>
          <a:p>
            <a:r>
              <a:rPr/>
              <a:t>LinkedIn: https://www.linkedin.com/in/alex-goldbaum/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