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Oswald-regular.fntdata"/><Relationship Id="rId15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ba04b60f4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ba04b60f4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54111ca1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54111ca1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4111ca1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4111ca1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54111ca19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54111ca19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b7d24c5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b7d24c5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34a06501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34a06501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4111ca19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4111ca19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54111ca19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54111ca19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2"/>
                </a:solidFill>
              </a:defRPr>
            </a:lvl1pPr>
            <a:lvl2pPr lvl="1" rtl="0" algn="r">
              <a:buNone/>
              <a:defRPr sz="1000">
                <a:solidFill>
                  <a:schemeClr val="lt2"/>
                </a:solidFill>
              </a:defRPr>
            </a:lvl2pPr>
            <a:lvl3pPr lvl="2" rtl="0" algn="r">
              <a:buNone/>
              <a:defRPr sz="1000">
                <a:solidFill>
                  <a:schemeClr val="lt2"/>
                </a:solidFill>
              </a:defRPr>
            </a:lvl3pPr>
            <a:lvl4pPr lvl="3" rtl="0" algn="r">
              <a:buNone/>
              <a:defRPr sz="1000">
                <a:solidFill>
                  <a:schemeClr val="lt2"/>
                </a:solidFill>
              </a:defRPr>
            </a:lvl4pPr>
            <a:lvl5pPr lvl="4" rtl="0" algn="r">
              <a:buNone/>
              <a:defRPr sz="1000">
                <a:solidFill>
                  <a:schemeClr val="lt2"/>
                </a:solidFill>
              </a:defRPr>
            </a:lvl5pPr>
            <a:lvl6pPr lvl="5" rtl="0" algn="r">
              <a:buNone/>
              <a:defRPr sz="1000">
                <a:solidFill>
                  <a:schemeClr val="lt2"/>
                </a:solidFill>
              </a:defRPr>
            </a:lvl6pPr>
            <a:lvl7pPr lvl="6" rtl="0" algn="r">
              <a:buNone/>
              <a:defRPr sz="1000">
                <a:solidFill>
                  <a:schemeClr val="lt2"/>
                </a:solidFill>
              </a:defRPr>
            </a:lvl7pPr>
            <a:lvl8pPr lvl="7" rtl="0" algn="r">
              <a:buNone/>
              <a:defRPr sz="1000">
                <a:solidFill>
                  <a:schemeClr val="lt2"/>
                </a:solidFill>
              </a:defRPr>
            </a:lvl8pPr>
            <a:lvl9pPr lvl="8" rtl="0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496725"/>
            <a:ext cx="9144000" cy="2646900"/>
          </a:xfrm>
          <a:prstGeom prst="rect">
            <a:avLst/>
          </a:prstGeom>
          <a:solidFill>
            <a:srgbClr val="F3F3F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  <a:reflection blurRad="0" dir="5400000" dist="38100" endA="0" endPos="1000" fadeDir="5400012" kx="0" rotWithShape="0" algn="bl" stPos="0" sy="-100000" ky="0"/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4034750" y="1546400"/>
            <a:ext cx="1011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2532425" y="1342425"/>
            <a:ext cx="1856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2078975" y="2103800"/>
            <a:ext cx="4098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0" y="0"/>
            <a:ext cx="9144000" cy="24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Receipt-to-Cashback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Alex Goldbaum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04" name="Google Shape;104;p25" title="final project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413" y="2661188"/>
            <a:ext cx="2313975" cy="23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Receipt-to-Cashback</a:t>
            </a:r>
            <a:endParaRPr/>
          </a:p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A market-research data-acquisition app: users scan a receipt; we pay a flat cashback in exchange for the itemised consumption data, which we anonymise and sell in aggregate to brands and research firms.</a:t>
            </a:r>
            <a:endParaRPr/>
          </a:p>
          <a:p>
            <a:r>
              <a:rPr/>
              <a:t>Problem solved: market research today buys slow self-reported surveys; loyalty programs see one retailer at a time. Nobody has the cross-merchant, item-level picture of what consumers actually buy. We do.</a:t>
            </a:r>
          </a:p>
          <a:p>
            <a:r>
              <a:rPr/>
              <a:t>Target users: consumers who want any-merchant cashback (B2C) and brands, retailers and market-research firms as data buyers (B2B).</a:t>
            </a:r>
          </a:p>
        </p:txBody>
      </p:sp>
      <p:sp>
        <p:nvSpPr>
          <p:cNvPr id="111" name="Google Shape;111;p26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1 min max</a:t>
            </a: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Stack</a:t>
            </a:r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Python · OOP · Pydantic — bootcamp Week 1–2</a:t>
            </a:r>
            <a:endParaRPr/>
          </a:p>
          <a:p>
            <a:r>
              <a:rPr/>
              <a:t>pandas · matplotlib · seaborn — bootcamp Week 3–4</a:t>
            </a:r>
          </a:p>
          <a:p>
            <a:r>
              <a:rPr/>
              <a:t>scikit-learn KMeans · scipy Welch's t-test — bootcamp Week 4–5</a:t>
            </a:r>
          </a:p>
          <a:p>
            <a:r>
              <a:rPr/>
              <a:t>EasyOCR (CRAFT + CRNN) — bootcamp Week 7</a:t>
            </a:r>
          </a:p>
          <a:p>
            <a:r>
              <a:rPr/>
              <a:t>FAISS + multilingual sentence-transformer — bootcamp Week 8</a:t>
            </a:r>
          </a:p>
          <a:p>
            <a:r>
              <a:rPr/>
              <a:t>Gemini 2.5 Flash Lite + few-shot + strict Pydantic schema — bootcamp Week 9</a:t>
            </a:r>
          </a:p>
          <a:p>
            <a:r>
              <a:rPr/>
              <a:t>Streamlit web app (4 pages) — SELF-TAUGHT</a:t>
            </a:r>
          </a:p>
        </p:txBody>
      </p:sp>
      <p:sp>
        <p:nvSpPr>
          <p:cNvPr id="118" name="Google Shape;118;p27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30sec max</a:t>
            </a: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Features list</a:t>
            </a:r>
            <a:endParaRPr/>
          </a:p>
        </p:txBody>
      </p:sp>
      <p:sp>
        <p:nvSpPr>
          <p:cNvPr id="124" name="Google Shape;124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Upload page: receipt photo → cashback number in ~8 seconds end-to-end</a:t>
            </a:r>
            <a:endParaRPr/>
          </a:p>
          <a:p>
            <a:r>
              <a:rPr/>
              <a:t>OCR + LLM extractor with strict Pydantic schema and few-shot prompts</a:t>
            </a:r>
          </a:p>
          <a:p>
            <a:r>
              <a:rPr/>
              <a:t>Multilingual semantic matching against a 110-SKU F&amp;B catalog (FAISS)</a:t>
            </a:r>
          </a:p>
          <a:p>
            <a:r>
              <a:rPr/>
              <a:t>Two-tier drift guard: scales at 10% drift, refuses cashback at 50%</a:t>
            </a:r>
          </a:p>
          <a:p>
            <a:r>
              <a:rPr/>
              <a:t>B2B Analytics page: K-Means user clustering + A/B-test simulation (Welch's t-test)</a:t>
            </a:r>
          </a:p>
          <a:p>
            <a:r>
              <a:rPr/>
              <a:t>Ethics tab inside the app + full ethics doc in the repo</a:t>
            </a:r>
          </a:p>
          <a:p>
            <a:r>
              <a:rPr/>
              <a:t>13 unit tests on the CashbackEngine — all passing</a:t>
            </a:r>
          </a:p>
          <a:p>
            <a:r>
              <a:rPr/>
              <a:t>Branch-per-feature git workflow with --no-ff merges</a:t>
            </a:r>
          </a:p>
        </p:txBody>
      </p:sp>
      <p:sp>
        <p:nvSpPr>
          <p:cNvPr id="125" name="Google Shape;125;p28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1 min max</a:t>
            </a: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Difficulties you managed to overcome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1" name="Google Shape;131;p29"/>
          <p:cNvSpPr txBox="1"/>
          <p:nvPr>
            <p:ph idx="4294967295" type="body"/>
          </p:nvPr>
        </p:nvSpPr>
        <p:spPr>
          <a:xfrm>
            <a:off x="311700" y="3332575"/>
            <a:ext cx="8520600" cy="5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Original partner-rebate business model gated cashback on most receipts → pivoted to market-research model: every priced line pays out</a:t>
            </a:r>
            <a:endParaRPr/>
          </a:p>
          <a:p>
            <a:r>
              <a:rPr/>
              <a:t>English-only embedding rejected Indonesian item 'PKT AYAM' → switched to paraphrase-multilingual-MiniLM-L12-v2 → 100% classification</a:t>
            </a:r>
          </a:p>
          <a:p>
            <a:r>
              <a:rPr/>
              <a:t>End-to-end latency was 40+ seconds on first run → moved to Gemini Flash Lite + image-hash cache → ~8 seconds</a:t>
            </a:r>
          </a:p>
          <a:p>
            <a:r>
              <a:rPr/>
              <a:t>Rehearsal: LLM double-counted items (+70% inflation) and later under-read totals (1,591,600 → 591,600) → built two-tier drift guard that scales at 10% and refuses payment at 50%</a:t>
            </a:r>
          </a:p>
        </p:txBody>
      </p:sp>
      <p:sp>
        <p:nvSpPr>
          <p:cNvPr id="132" name="Google Shape;132;p29"/>
          <p:cNvSpPr txBox="1"/>
          <p:nvPr>
            <p:ph idx="4294967295" type="title"/>
          </p:nvPr>
        </p:nvSpPr>
        <p:spPr>
          <a:xfrm>
            <a:off x="4567200" y="24492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1 min max</a:t>
            </a:r>
            <a:endParaRPr sz="2000">
              <a:solidFill>
                <a:srgbClr val="FF0000"/>
              </a:solidFill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311700" y="26607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My next step - functionalities you plan on implementing (OPTIONAL)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4" name="Google Shape;134;p29"/>
          <p:cNvSpPr txBox="1"/>
          <p:nvPr>
            <p:ph idx="4294967295" type="body"/>
          </p:nvPr>
        </p:nvSpPr>
        <p:spPr>
          <a:xfrm>
            <a:off x="311700" y="75287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Real users instead of a synthetic population</a:t>
            </a:r>
            <a:endParaRPr/>
          </a:p>
          <a:p>
            <a:r>
              <a:rPr/>
              <a:t>Postgres warehouse for receipt records</a:t>
            </a:r>
          </a:p>
          <a:p>
            <a:r>
              <a:rPr/>
              <a:t>Image-level redaction of cardholder data and identifiers</a:t>
            </a:r>
          </a:p>
          <a:p>
            <a:r>
              <a:rPr/>
              <a:t>K-anonymity floor before any aggregated data is sold</a:t>
            </a:r>
          </a:p>
          <a:p>
            <a:r>
              <a:rPr/>
              <a:t>MCP 'spend search' agent (e.g. 'how much did I spend on coffee in May?')</a:t>
            </a:r>
          </a:p>
          <a:p>
            <a:r>
              <a:rPr/>
              <a:t>Multilingual OCR (Hebrew, Arabic) for global users</a:t>
            </a:r>
          </a:p>
        </p:txBody>
      </p:sp>
      <p:sp>
        <p:nvSpPr>
          <p:cNvPr id="135" name="Google Shape;135;p29"/>
          <p:cNvSpPr txBox="1"/>
          <p:nvPr>
            <p:ph idx="4294967295" type="title"/>
          </p:nvPr>
        </p:nvSpPr>
        <p:spPr>
          <a:xfrm>
            <a:off x="4797925" y="311267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30sec max</a:t>
            </a: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SHOW THE 3minutes videos + SHOW some part of </a:t>
            </a:r>
            <a:r>
              <a:rPr lang="en" sz="24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the </a:t>
            </a:r>
            <a:r>
              <a:rPr lang="en" sz="24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code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1" name="Google Shape;141;p30"/>
          <p:cNvSpPr txBox="1"/>
          <p:nvPr>
            <p:ph idx="4294967295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/>
              <a:t>Live demo: https://huggingface.co/spaces/alexgl77/receipt-to-cashback</a:t>
            </a:r>
            <a:endParaRPr/>
          </a:p>
          <a:p>
            <a:r>
              <a:rPr/>
              <a:t>Loom video (3 min): [WILL BE ADDED AFTER RECORDING — see docs/05_demo_script.md]</a:t>
            </a:r>
          </a:p>
        </p:txBody>
      </p:sp>
      <p:sp>
        <p:nvSpPr>
          <p:cNvPr id="142" name="Google Shape;142;p30"/>
          <p:cNvSpPr txBox="1"/>
          <p:nvPr>
            <p:ph idx="4294967295" type="title"/>
          </p:nvPr>
        </p:nvSpPr>
        <p:spPr>
          <a:xfrm>
            <a:off x="4654800" y="132417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</a:rPr>
              <a:t>Time of presentation : 4min max</a:t>
            </a:r>
            <a:endParaRPr sz="2000">
              <a:solidFill>
                <a:srgbClr val="FF0000"/>
              </a:solidFill>
            </a:endParaRPr>
          </a:p>
        </p:txBody>
      </p:sp>
      <p:sp>
        <p:nvSpPr>
          <p:cNvPr id="143" name="Google Shape;143;p30"/>
          <p:cNvSpPr txBox="1"/>
          <p:nvPr>
            <p:ph idx="4294967295" type="title"/>
          </p:nvPr>
        </p:nvSpPr>
        <p:spPr>
          <a:xfrm>
            <a:off x="267900" y="2103225"/>
            <a:ext cx="8608200" cy="2733900"/>
          </a:xfrm>
          <a:prstGeom prst="rect">
            <a:avLst/>
          </a:prstGeom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u="sng">
                <a:solidFill>
                  <a:schemeClr val="accent5"/>
                </a:solidFill>
              </a:rPr>
              <a:t>IMPORTANT </a:t>
            </a:r>
            <a:r>
              <a:rPr lang="en" sz="2000">
                <a:solidFill>
                  <a:schemeClr val="accent5"/>
                </a:solidFill>
              </a:rPr>
              <a:t>: your PPT + the video + the questions from the jury is </a:t>
            </a:r>
            <a:r>
              <a:rPr b="1" lang="en" sz="2000" u="sng">
                <a:solidFill>
                  <a:schemeClr val="accent5"/>
                </a:solidFill>
              </a:rPr>
              <a:t>10min maximum</a:t>
            </a:r>
            <a:r>
              <a:rPr lang="en" sz="2000">
                <a:solidFill>
                  <a:schemeClr val="accent5"/>
                </a:solidFill>
              </a:rPr>
              <a:t>. </a:t>
            </a:r>
            <a:endParaRPr sz="2000">
              <a:solidFill>
                <a:schemeClr val="accent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5"/>
                </a:solidFill>
              </a:rPr>
              <a:t>We propose you do :</a:t>
            </a:r>
            <a:endParaRPr sz="2000">
              <a:solidFill>
                <a:schemeClr val="accent5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Char char="-"/>
            </a:pPr>
            <a:r>
              <a:rPr lang="en" sz="2000">
                <a:solidFill>
                  <a:schemeClr val="accent5"/>
                </a:solidFill>
              </a:rPr>
              <a:t>4min PPT</a:t>
            </a:r>
            <a:endParaRPr sz="2000">
              <a:solidFill>
                <a:schemeClr val="accent5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Char char="-"/>
            </a:pPr>
            <a:r>
              <a:rPr lang="en" sz="2000">
                <a:solidFill>
                  <a:schemeClr val="accent5"/>
                </a:solidFill>
              </a:rPr>
              <a:t>4min video and code presentation</a:t>
            </a:r>
            <a:endParaRPr sz="2000">
              <a:solidFill>
                <a:schemeClr val="accent5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Char char="-"/>
            </a:pPr>
            <a:r>
              <a:rPr lang="en" sz="2000">
                <a:solidFill>
                  <a:schemeClr val="accent5"/>
                </a:solidFill>
              </a:rPr>
              <a:t>2min question</a:t>
            </a:r>
            <a:endParaRPr sz="2000">
              <a:solidFill>
                <a:schemeClr val="accent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5"/>
                </a:solidFill>
              </a:rPr>
              <a:t>If you want more time for questions or to show us your project features, reduce the time of the PPT to the minimum.</a:t>
            </a:r>
            <a:endParaRPr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Links (For PSTB Team Only – Not for Presentation)</a:t>
            </a:r>
            <a:endParaRPr/>
          </a:p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GitHub (public repo): https://github.com/alexgl77/receipt-to-cashback</a:t>
            </a:r>
            <a:endParaRPr/>
          </a:p>
          <a:p>
            <a:r>
              <a:rPr/>
              <a:t>Live app: https://huggingface.co/spaces/alexgl77/receipt-to-cashback</a:t>
            </a:r>
          </a:p>
          <a:p>
            <a:r>
              <a:rPr/>
              <a:t>3-min video (Loom): [WILL BE ADDED AFTER RECORDING]</a:t>
            </a:r>
          </a:p>
          <a:p>
            <a:r>
              <a:rPr/>
              <a:t>Medium article: not planned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>
            <a:off x="311700" y="445025"/>
            <a:ext cx="8832300" cy="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Job (For PSTB Team Only – Not for Presentation)</a:t>
            </a:r>
            <a:endParaRPr/>
          </a:p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CV: [REPLACE WITH YOUR CV URL — Drive / Dropbox / personal site]</a:t>
            </a:r>
            <a:endParaRPr/>
          </a:p>
          <a:p>
            <a:r>
              <a:rPr/>
              <a:t>LinkedIn: https://www.linkedin.com/in/alex-goldbaum/  (verify URL)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